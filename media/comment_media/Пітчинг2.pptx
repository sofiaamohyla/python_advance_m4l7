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3"/>
    <p:sldMasterId id="214748368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 Black"/>
      <p:bold r:id="rId13"/>
      <p:boldItalic r:id="rId14"/>
    </p:embeddedFont>
    <p:embeddedFont>
      <p:font typeface="Montserrat"/>
      <p:regular r:id="rId15"/>
      <p:bold r:id="rId16"/>
      <p:italic r:id="rId17"/>
      <p:boldItalic r:id="rId18"/>
    </p:embeddedFont>
    <p:embeddedFont>
      <p:font typeface="Montserrat Medium"/>
      <p:regular r:id="rId19"/>
      <p:bold r:id="rId20"/>
      <p:italic r:id="rId21"/>
      <p:boldItalic r:id="rId22"/>
    </p:embeddedFont>
    <p:embeddedFont>
      <p:font typeface="Montserrat ExtraBold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bold.fntdata"/><Relationship Id="rId22" Type="http://schemas.openxmlformats.org/officeDocument/2006/relationships/font" Target="fonts/MontserratMedium-boldItalic.fntdata"/><Relationship Id="rId21" Type="http://schemas.openxmlformats.org/officeDocument/2006/relationships/font" Target="fonts/MontserratMedium-italic.fntdata"/><Relationship Id="rId24" Type="http://schemas.openxmlformats.org/officeDocument/2006/relationships/font" Target="fonts/MontserratExtraBold-boldItalic.fntdata"/><Relationship Id="rId23" Type="http://schemas.openxmlformats.org/officeDocument/2006/relationships/font" Target="fonts/MontserratExtraBold-bold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Black-bold.fntdata"/><Relationship Id="rId12" Type="http://schemas.openxmlformats.org/officeDocument/2006/relationships/slide" Target="slides/slide7.xml"/><Relationship Id="rId15" Type="http://schemas.openxmlformats.org/officeDocument/2006/relationships/font" Target="fonts/Montserrat-regular.fntdata"/><Relationship Id="rId14" Type="http://schemas.openxmlformats.org/officeDocument/2006/relationships/font" Target="fonts/MontserratBlack-boldItalic.fntdata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19" Type="http://schemas.openxmlformats.org/officeDocument/2006/relationships/font" Target="fonts/MontserratMedium-regular.fntdata"/><Relationship Id="rId18" Type="http://schemas.openxmlformats.org/officeDocument/2006/relationships/font" Target="fonts/Montserra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ef39a49d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ef39a49d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ef39a49da4_0_39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ef39a49da4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ef39a49da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ef39a49da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f21b4d24f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f21b4d24f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0cef4f6946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0cef4f6946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d4a965efa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d4a965efa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f21b4d24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f21b4d24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id May 2021">
  <p:cSld name="CUSTOM_1_1_1_1_1_1_1_1_1_1_3_1_1_4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вторение">
  <p:cSld name="CUSTOM_1_1_1_1_1_1_1_1_1_1_3_1_1_4_1">
    <p:bg>
      <p:bgPr>
        <a:solidFill>
          <a:schemeClr val="lt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11;p3"/>
          <p:cNvCxnSpPr/>
          <p:nvPr/>
        </p:nvCxnSpPr>
        <p:spPr>
          <a:xfrm>
            <a:off x="1100075" y="4775638"/>
            <a:ext cx="7663200" cy="0"/>
          </a:xfrm>
          <a:prstGeom prst="straightConnector1">
            <a:avLst/>
          </a:prstGeom>
          <a:noFill/>
          <a:ln cap="flat" cmpd="sng" w="19050">
            <a:solidFill>
              <a:srgbClr val="FFB4B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" name="Google Shape;12;p3"/>
          <p:cNvPicPr preferRelativeResize="0"/>
          <p:nvPr/>
        </p:nvPicPr>
        <p:blipFill rotWithShape="1">
          <a:blip r:embed="rId2">
            <a:alphaModFix/>
          </a:blip>
          <a:srcRect b="2651" l="0" r="0" t="2651"/>
          <a:stretch/>
        </p:blipFill>
        <p:spPr>
          <a:xfrm>
            <a:off x="8282897" y="4506549"/>
            <a:ext cx="445112" cy="36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/>
          <p:nvPr/>
        </p:nvSpPr>
        <p:spPr>
          <a:xfrm>
            <a:off x="355500" y="4628050"/>
            <a:ext cx="3160500" cy="22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B4B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Повторение. Устройство компьютера</a:t>
            </a:r>
            <a:endParaRPr sz="1200">
              <a:solidFill>
                <a:srgbClr val="FFB4B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19">
          <p15:clr>
            <a:srgbClr val="FA7B17"/>
          </p15:clr>
        </p15:guide>
        <p15:guide id="16" pos="1553">
          <p15:clr>
            <a:schemeClr val="accent1"/>
          </p15:clr>
        </p15:guide>
        <p15:guide id="17" pos="1667">
          <p15:clr>
            <a:srgbClr val="FA7B17"/>
          </p15:clr>
        </p15:guide>
        <p15:guide id="18" pos="2994">
          <p15:clr>
            <a:srgbClr val="FA7B17"/>
          </p15:clr>
        </p15:guide>
        <p15:guide id="19" pos="4092">
          <p15:clr>
            <a:srgbClr val="FA7B17"/>
          </p15:clr>
        </p15:guide>
        <p15:guide id="20" pos="2880">
          <p15:clr>
            <a:srgbClr val="7E24D5"/>
          </p15:clr>
        </p15:guide>
        <p15:guide id="21" pos="4206">
          <p15:clr>
            <a:srgbClr val="7E24D5"/>
          </p15:clr>
        </p15:guide>
        <p15:guide id="22" pos="1440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суждение">
  <p:cSld name="CUSTOM_1_1_1_1_1_1_1_1_1_1_3_1_1_4_1_1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4"/>
          <p:cNvCxnSpPr/>
          <p:nvPr/>
        </p:nvCxnSpPr>
        <p:spPr>
          <a:xfrm>
            <a:off x="1106800" y="4772540"/>
            <a:ext cx="7675200" cy="0"/>
          </a:xfrm>
          <a:prstGeom prst="straightConnector1">
            <a:avLst/>
          </a:prstGeom>
          <a:noFill/>
          <a:ln cap="flat" cmpd="sng" w="19050">
            <a:solidFill>
              <a:srgbClr val="8EDBB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" name="Google Shape;16;p4"/>
          <p:cNvPicPr preferRelativeResize="0"/>
          <p:nvPr/>
        </p:nvPicPr>
        <p:blipFill rotWithShape="1">
          <a:blip r:embed="rId2">
            <a:alphaModFix/>
          </a:blip>
          <a:srcRect b="9440" l="13147" r="14571" t="17774"/>
          <a:stretch/>
        </p:blipFill>
        <p:spPr>
          <a:xfrm>
            <a:off x="8357005" y="4469646"/>
            <a:ext cx="395325" cy="42746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/>
          <p:nvPr/>
        </p:nvSpPr>
        <p:spPr>
          <a:xfrm>
            <a:off x="358325" y="4628150"/>
            <a:ext cx="3160500" cy="22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8EDBB1"/>
                </a:solidFill>
                <a:highlight>
                  <a:schemeClr val="lt2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Устройство компьютера. Обсуждение</a:t>
            </a:r>
            <a:endParaRPr sz="1200">
              <a:solidFill>
                <a:srgbClr val="8EDBB1"/>
              </a:solidFill>
              <a:highlight>
                <a:schemeClr val="lt1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овая тема">
  <p:cSld name="CUSTOM_1_1_1_1_1_1_1_1_1_1_3_1_1_4_1_1_1">
    <p:bg>
      <p:bgPr>
        <a:solidFill>
          <a:schemeClr val="lt2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Google Shape;19;p5"/>
          <p:cNvCxnSpPr/>
          <p:nvPr/>
        </p:nvCxnSpPr>
        <p:spPr>
          <a:xfrm>
            <a:off x="1106800" y="4774908"/>
            <a:ext cx="7675200" cy="0"/>
          </a:xfrm>
          <a:prstGeom prst="straightConnector1">
            <a:avLst/>
          </a:prstGeom>
          <a:noFill/>
          <a:ln cap="flat" cmpd="sng" w="19050">
            <a:solidFill>
              <a:srgbClr val="FFA0B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5"/>
          <p:cNvSpPr/>
          <p:nvPr/>
        </p:nvSpPr>
        <p:spPr>
          <a:xfrm>
            <a:off x="358325" y="4627299"/>
            <a:ext cx="3091800" cy="22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A0B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Новая тема. Устройство компьютера</a:t>
            </a:r>
            <a:endParaRPr sz="1200">
              <a:solidFill>
                <a:srgbClr val="FFA0B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1" name="Google Shape;21;p5"/>
          <p:cNvPicPr preferRelativeResize="0"/>
          <p:nvPr/>
        </p:nvPicPr>
        <p:blipFill rotWithShape="1">
          <a:blip r:embed="rId2">
            <a:alphaModFix/>
          </a:blip>
          <a:srcRect b="-9914" l="15635" r="10683" t="0"/>
          <a:stretch/>
        </p:blipFill>
        <p:spPr>
          <a:xfrm>
            <a:off x="8395550" y="4537073"/>
            <a:ext cx="322650" cy="45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бота на платформе">
  <p:cSld name="CUSTOM_1_1_1_1_1_1_1_1_1_1_3_1_1_4_1_1_1_2">
    <p:bg>
      <p:bgPr>
        <a:solidFill>
          <a:schemeClr val="lt2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6"/>
          <p:cNvCxnSpPr/>
          <p:nvPr/>
        </p:nvCxnSpPr>
        <p:spPr>
          <a:xfrm>
            <a:off x="1106800" y="4774187"/>
            <a:ext cx="7675200" cy="0"/>
          </a:xfrm>
          <a:prstGeom prst="straightConnector1">
            <a:avLst/>
          </a:prstGeom>
          <a:noFill/>
          <a:ln cap="flat" cmpd="sng" w="19050">
            <a:solidFill>
              <a:srgbClr val="B99DC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6"/>
          <p:cNvSpPr/>
          <p:nvPr/>
        </p:nvSpPr>
        <p:spPr>
          <a:xfrm>
            <a:off x="358325" y="4629797"/>
            <a:ext cx="1828800" cy="22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B99DC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Работа на платформе</a:t>
            </a:r>
            <a:endParaRPr sz="1200">
              <a:solidFill>
                <a:srgbClr val="B99DC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5" name="Google Shape;25;p6"/>
          <p:cNvPicPr preferRelativeResize="0"/>
          <p:nvPr/>
        </p:nvPicPr>
        <p:blipFill rotWithShape="1">
          <a:blip r:embed="rId2">
            <a:alphaModFix/>
          </a:blip>
          <a:srcRect b="11459" l="16558" r="8072" t="11212"/>
          <a:stretch/>
        </p:blipFill>
        <p:spPr>
          <a:xfrm>
            <a:off x="8351696" y="4487862"/>
            <a:ext cx="426275" cy="39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78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вершение урока">
  <p:cSld name="CUSTOM_1_1_1_1_1_1_1_1_1_1_3_1_1_4_1_1_1_1">
    <p:bg>
      <p:bgPr>
        <a:solidFill>
          <a:schemeClr val="lt2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7"/>
          <p:cNvCxnSpPr/>
          <p:nvPr/>
        </p:nvCxnSpPr>
        <p:spPr>
          <a:xfrm>
            <a:off x="1108638" y="4773762"/>
            <a:ext cx="7675200" cy="0"/>
          </a:xfrm>
          <a:prstGeom prst="straightConnector1">
            <a:avLst/>
          </a:prstGeom>
          <a:noFill/>
          <a:ln cap="flat" cmpd="sng" w="19050">
            <a:solidFill>
              <a:srgbClr val="A4E7F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7"/>
          <p:cNvSpPr/>
          <p:nvPr/>
        </p:nvSpPr>
        <p:spPr>
          <a:xfrm>
            <a:off x="360150" y="4626153"/>
            <a:ext cx="1678800" cy="22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A4E7FA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Завершение урока</a:t>
            </a:r>
            <a:endParaRPr sz="1200">
              <a:solidFill>
                <a:srgbClr val="A4E7FA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41799" y="4325375"/>
            <a:ext cx="529050" cy="4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суждение 1">
  <p:cSld name="CUSTOM_1_1_1_1_1_1_1_1_1_1_3_1_1_4_1_1_2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8"/>
          <p:cNvSpPr txBox="1"/>
          <p:nvPr>
            <p:ph idx="1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ontserrat Medium"/>
              <a:buNone/>
              <a:defRPr sz="12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33" name="Google Shape;33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24017" y="4444625"/>
            <a:ext cx="534575" cy="5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тка Май 2021">
  <p:cSld name="CUSTOM_1_1_1_1_1_1_1_1_1_1_3_1_1_4">
    <p:bg>
      <p:bgPr>
        <a:solidFill>
          <a:schemeClr val="accen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/>
        </p:nvSpPr>
        <p:spPr>
          <a:xfrm>
            <a:off x="636830" y="4404303"/>
            <a:ext cx="19875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Скачать методичку</a:t>
            </a:r>
            <a:endParaRPr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0" name="Google Shape;40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9926" y="4596227"/>
            <a:ext cx="266925" cy="2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925" y="345875"/>
            <a:ext cx="1756800" cy="43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0"/>
          <p:cNvSpPr txBox="1"/>
          <p:nvPr>
            <p:ph idx="1" type="subTitle"/>
          </p:nvPr>
        </p:nvSpPr>
        <p:spPr>
          <a:xfrm>
            <a:off x="352925" y="1473400"/>
            <a:ext cx="81081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352925" y="1859151"/>
            <a:ext cx="4224300" cy="225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тка Май 2021 1">
  <p:cSld name="CUSTOM_1_1_1_1_1_1_1_1_1_1_3_1_1_4_5">
    <p:bg>
      <p:bgPr>
        <a:solidFill>
          <a:schemeClr val="accen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2925" y="345875"/>
            <a:ext cx="1756800" cy="43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1"/>
          <p:cNvSpPr txBox="1"/>
          <p:nvPr>
            <p:ph idx="1" type="subTitle"/>
          </p:nvPr>
        </p:nvSpPr>
        <p:spPr>
          <a:xfrm>
            <a:off x="352925" y="1473400"/>
            <a:ext cx="81081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7" name="Google Shape;47;p11"/>
          <p:cNvSpPr txBox="1"/>
          <p:nvPr>
            <p:ph type="title"/>
          </p:nvPr>
        </p:nvSpPr>
        <p:spPr>
          <a:xfrm>
            <a:off x="352925" y="1859150"/>
            <a:ext cx="4219200" cy="225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 ExtraBold"/>
              <a:buNone/>
              <a:defRPr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Повторение»">
  <p:cSld name="CUSTOM_1_1_1_1_1_1_1_1_1_1_3_1_1_4_4">
    <p:bg>
      <p:bgPr>
        <a:solidFill>
          <a:schemeClr val="accent2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2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" name="Google Shape;51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2"/>
          <p:cNvPicPr preferRelativeResize="0"/>
          <p:nvPr/>
        </p:nvPicPr>
        <p:blipFill rotWithShape="1">
          <a:blip r:embed="rId3">
            <a:alphaModFix/>
          </a:blip>
          <a:srcRect b="-1899" l="0" r="-8236" t="1900"/>
          <a:stretch/>
        </p:blipFill>
        <p:spPr>
          <a:xfrm>
            <a:off x="6801225" y="3159807"/>
            <a:ext cx="1822349" cy="1545899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2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Новая тема»">
  <p:cSld name="CUSTOM_1_1_1_1_1_1_1_1_1_1_3_1_1_4_4_1">
    <p:bg>
      <p:bgPr>
        <a:solidFill>
          <a:schemeClr val="accent5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3">
            <a:alphaModFix/>
          </a:blip>
          <a:srcRect b="-59" l="-11184" r="-21335" t="60"/>
          <a:stretch/>
        </p:blipFill>
        <p:spPr>
          <a:xfrm>
            <a:off x="6759550" y="3011700"/>
            <a:ext cx="1950027" cy="165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Обсуждение»">
  <p:cSld name="CUSTOM_1_1_1_1_1_1_1_1_1_1_3_1_1_4_4_1_1">
    <p:bg>
      <p:bgPr>
        <a:solidFill>
          <a:schemeClr val="accent4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 b="0" l="0" r="-33743" t="-2827"/>
          <a:stretch/>
        </p:blipFill>
        <p:spPr>
          <a:xfrm>
            <a:off x="6912650" y="2968400"/>
            <a:ext cx="2001076" cy="169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Групповая работа»">
  <p:cSld name="CUSTOM_1_1_1_1_1_1_1_1_1_1_3_1_1_4_4_1_1_1">
    <p:bg>
      <p:bgPr>
        <a:solidFill>
          <a:schemeClr val="lt2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3375" y="3011700"/>
            <a:ext cx="2748550" cy="165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Работа на платформе»">
  <p:cSld name="CUSTOM_1_1_1_1_1_1_1_1_1_1_3_1_1_4_4_1_1_1_1">
    <p:bg>
      <p:bgPr>
        <a:solidFill>
          <a:schemeClr val="accen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82" name="Google Shape;82;p16"/>
          <p:cNvPicPr preferRelativeResize="0"/>
          <p:nvPr/>
        </p:nvPicPr>
        <p:blipFill rotWithShape="1">
          <a:blip r:embed="rId3">
            <a:alphaModFix/>
          </a:blip>
          <a:srcRect b="0" l="0" r="-8260" t="0"/>
          <a:stretch/>
        </p:blipFill>
        <p:spPr>
          <a:xfrm>
            <a:off x="6414050" y="2927125"/>
            <a:ext cx="2049726" cy="173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Перерыв»">
  <p:cSld name="CUSTOM_1_1_1_1_1_1_1_1_1_1_3_1_1_4_4_1_1_1_1_1">
    <p:bg>
      <p:bgPr>
        <a:solidFill>
          <a:schemeClr val="accent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89" name="Google Shape;89;p17"/>
          <p:cNvPicPr preferRelativeResize="0"/>
          <p:nvPr/>
        </p:nvPicPr>
        <p:blipFill rotWithShape="1">
          <a:blip r:embed="rId3">
            <a:alphaModFix/>
          </a:blip>
          <a:srcRect b="0" l="-5793" r="-4350" t="0"/>
          <a:stretch/>
        </p:blipFill>
        <p:spPr>
          <a:xfrm>
            <a:off x="6589951" y="3011700"/>
            <a:ext cx="1950026" cy="165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Физкультминутка»">
  <p:cSld name="CUSTOM_1_1_1_1_1_1_1_1_1_1_3_1_1_4_4_1_1_1_1_1_1">
    <p:bg>
      <p:bgPr>
        <a:solidFill>
          <a:schemeClr val="accent6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0113" y="3011700"/>
            <a:ext cx="2093949" cy="165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Завершение урока»">
  <p:cSld name="CUSTOM_1_1_1_1_1_1_1_1_1_1_3_1_1_4_4_1_1_1_1_1_1_1">
    <p:bg>
      <p:bgPr>
        <a:solidFill>
          <a:schemeClr val="accent3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103" name="Google Shape;10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3600" y="3108084"/>
            <a:ext cx="2674100" cy="1557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 «Демонстрация работы»">
  <p:cSld name="CUSTOM_1_1_1_1_1_1_1_1_1_1_3_1_1_4_4_1_1_1_1_1_1_1_1">
    <p:bg>
      <p:bgPr>
        <a:solidFill>
          <a:srgbClr val="C291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/>
          <p:nvPr/>
        </p:nvSpPr>
        <p:spPr>
          <a:xfrm>
            <a:off x="360000" y="360000"/>
            <a:ext cx="8424000" cy="430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/>
          <p:nvPr/>
        </p:nvSpPr>
        <p:spPr>
          <a:xfrm rot="10800000">
            <a:off x="860559" y="4435020"/>
            <a:ext cx="961200" cy="515700"/>
          </a:xfrm>
          <a:prstGeom prst="triangle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80000" y="914400"/>
            <a:ext cx="332566" cy="4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>
            <p:ph idx="1" type="subTitle"/>
          </p:nvPr>
        </p:nvSpPr>
        <p:spPr>
          <a:xfrm>
            <a:off x="1080000" y="1573200"/>
            <a:ext cx="6771300" cy="28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 sz="14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type="title"/>
          </p:nvPr>
        </p:nvSpPr>
        <p:spPr>
          <a:xfrm>
            <a:off x="1080000" y="1926000"/>
            <a:ext cx="5688900" cy="193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110" name="Google Shape;110;p20"/>
          <p:cNvPicPr preferRelativeResize="0"/>
          <p:nvPr/>
        </p:nvPicPr>
        <p:blipFill rotWithShape="1">
          <a:blip r:embed="rId3">
            <a:alphaModFix/>
          </a:blip>
          <a:srcRect b="-6398" l="-3199" r="0" t="3865"/>
          <a:stretch/>
        </p:blipFill>
        <p:spPr>
          <a:xfrm>
            <a:off x="6768750" y="3069172"/>
            <a:ext cx="1606549" cy="1509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етка May 2021">
  <p:cSld name="CUSTOM_1_1_1_1_1_1_1_1_1_1_3_1_1_4_3"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вторение">
  <p:cSld name="CUSTOM_1_1_1_1_1_1_1_1_1_1_3_1_1_4_2"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Medium"/>
              <a:buNone/>
              <a:defRPr sz="12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15" name="Google Shape;11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68100" y="4456389"/>
            <a:ext cx="627842" cy="57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вторение. Заголовок. Текст.">
  <p:cSld name="CUSTOM_1_1_1_1_1_1_1_1_1_1_3_1_1_4_2_1"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3"/>
          <p:cNvSpPr txBox="1"/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20" name="Google Shape;120;p23"/>
          <p:cNvSpPr txBox="1"/>
          <p:nvPr>
            <p:ph idx="2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Medium"/>
              <a:buNone/>
              <a:defRPr sz="12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21" name="Google Shape;1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68100" y="4456389"/>
            <a:ext cx="627842" cy="57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9">
          <p15:clr>
            <a:srgbClr val="38BD60"/>
          </p15:clr>
        </p15:guide>
        <p15:guide id="24" pos="3801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7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суждение">
  <p:cSld name="CUSTOM_1_1_1_1_1_1_1_1_1_1_3_1_1_4_1_1"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4"/>
          <p:cNvSpPr txBox="1"/>
          <p:nvPr>
            <p:ph idx="1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ontserrat Medium"/>
              <a:buNone/>
              <a:defRPr sz="12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25" name="Google Shape;12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24017" y="4444625"/>
            <a:ext cx="534575" cy="5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суждение. Заголовок. Текст.">
  <p:cSld name="CUSTOM_1_1_1_1_1_1_1_1_1_1_3_1_1_4_1_1_2"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5"/>
          <p:cNvSpPr txBox="1"/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2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Montserrat Medium"/>
              <a:buNone/>
              <a:defRPr sz="1200"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Montserrat Medium"/>
              <a:buNone/>
              <a:defRPr>
                <a:solidFill>
                  <a:schemeClr val="accent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31" name="Google Shape;131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24017" y="4444625"/>
            <a:ext cx="534575" cy="5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овая тема">
  <p:cSld name="CUSTOM_1_1_1_1_1_1_1_1_1_1_3_1_1_4_1_1_1"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6"/>
          <p:cNvSpPr txBox="1"/>
          <p:nvPr>
            <p:ph idx="1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 Medium"/>
              <a:buNone/>
              <a:defRPr sz="1200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35" name="Google Shape;135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62736" y="4445275"/>
            <a:ext cx="531725" cy="5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овая тема. Заголовок. Текст.">
  <p:cSld name="CUSTOM_1_1_1_1_1_1_1_1_1_1_3_1_1_4_1_1_1_3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7"/>
          <p:cNvSpPr txBox="1"/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2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Montserrat Medium"/>
              <a:buNone/>
              <a:defRPr sz="1200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Montserrat Medium"/>
              <a:buNone/>
              <a:defRPr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41" name="Google Shape;141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62736" y="4445275"/>
            <a:ext cx="531725" cy="5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бота на платформе">
  <p:cSld name="CUSTOM_1_1_1_1_1_1_1_1_1_1_3_1_1_4_1_1_1_2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8"/>
          <p:cNvSpPr txBox="1"/>
          <p:nvPr>
            <p:ph idx="1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 Medium"/>
              <a:buNone/>
              <a:defRPr sz="12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45" name="Google Shape;14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12278" y="4422100"/>
            <a:ext cx="676445" cy="62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бота на платформе. Заголовок. Текст.">
  <p:cSld name="CUSTOM_1_1_1_1_1_1_1_1_1_1_3_1_1_4_1_1_1_2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9"/>
          <p:cNvSpPr txBox="1"/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9" name="Google Shape;149;p29"/>
          <p:cNvSpPr txBox="1"/>
          <p:nvPr>
            <p:ph idx="1" type="body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50" name="Google Shape;150;p29"/>
          <p:cNvSpPr txBox="1"/>
          <p:nvPr>
            <p:ph idx="2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 Medium"/>
              <a:buNone/>
              <a:defRPr sz="12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51" name="Google Shape;151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12278" y="4422100"/>
            <a:ext cx="676445" cy="62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вершение урока">
  <p:cSld name="CUSTOM_1_1_1_1_1_1_1_1_1_1_3_1_1_4_1_1_1_1"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0"/>
          <p:cNvSpPr txBox="1"/>
          <p:nvPr>
            <p:ph idx="1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Montserrat Medium"/>
              <a:buNone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55" name="Google Shape;155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65728" y="4457800"/>
            <a:ext cx="990461" cy="57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вершение урока. Заголовок. Текст.">
  <p:cSld name="CUSTOM_1_1_1_1_1_1_1_1_1_1_3_1_1_4_1_1_1_1_2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1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1"/>
          <p:cNvSpPr txBox="1"/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9" name="Google Shape;159;p31"/>
          <p:cNvSpPr txBox="1"/>
          <p:nvPr>
            <p:ph idx="1" type="body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60" name="Google Shape;160;p31"/>
          <p:cNvSpPr txBox="1"/>
          <p:nvPr>
            <p:ph idx="2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Montserrat Medium"/>
              <a:buNone/>
              <a:defRPr sz="12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 Medium"/>
              <a:buNone/>
              <a:defRPr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61" name="Google Shape;16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65728" y="4457800"/>
            <a:ext cx="990461" cy="57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зкультминутка. Заголовок. Текст.">
  <p:cSld name="CUSTOM_1_1_1_1_1_1_1_1_1_1_3_1_1_4_1_1_1_1_1"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2"/>
          <p:cNvSpPr/>
          <p:nvPr/>
        </p:nvSpPr>
        <p:spPr>
          <a:xfrm>
            <a:off x="360000" y="4680000"/>
            <a:ext cx="6346200" cy="22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accent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Физультминутка</a:t>
            </a:r>
            <a:endParaRPr sz="1200">
              <a:solidFill>
                <a:schemeClr val="accent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5" name="Google Shape;165;p32"/>
          <p:cNvSpPr txBox="1"/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6" name="Google Shape;166;p32"/>
          <p:cNvSpPr txBox="1"/>
          <p:nvPr>
            <p:ph idx="1" type="body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pic>
        <p:nvPicPr>
          <p:cNvPr id="167" name="Google Shape;16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59631" y="4434850"/>
            <a:ext cx="764300" cy="60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зкультминутка">
  <p:cSld name="CUSTOM_1_1_1_1_1_1_1_1_1_1_3_1_1_4_1_1_1_1_1_2"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3"/>
          <p:cNvSpPr/>
          <p:nvPr/>
        </p:nvSpPr>
        <p:spPr>
          <a:xfrm>
            <a:off x="360000" y="4680000"/>
            <a:ext cx="6346200" cy="22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accent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Перерыв</a:t>
            </a:r>
            <a:endParaRPr sz="1200">
              <a:solidFill>
                <a:schemeClr val="accent6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71" name="Google Shape;171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75017" y="4422325"/>
            <a:ext cx="655910" cy="61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емонстрация работы в редакторе">
  <p:cSld name="CUSTOM_1_1_1_1_1_1_1_1_1_1_3_1_1_4_1_1_1_1_1_2_1"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rgbClr val="C29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4"/>
          <p:cNvSpPr txBox="1"/>
          <p:nvPr>
            <p:ph idx="1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291FF"/>
              </a:buClr>
              <a:buSzPts val="1200"/>
              <a:buFont typeface="Montserrat Medium"/>
              <a:buNone/>
              <a:defRPr sz="1200">
                <a:solidFill>
                  <a:srgbClr val="C291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75" name="Google Shape;17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84425" y="4415281"/>
            <a:ext cx="591157" cy="56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упповая работа">
  <p:cSld name="CUSTOM_1_1_1_1_1_1_1_1_1_1_3_1_1_4_1_1_1_1_1_1"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5"/>
          <p:cNvSpPr txBox="1"/>
          <p:nvPr>
            <p:ph idx="1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179" name="Google Shape;179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09563" y="4453277"/>
            <a:ext cx="975600" cy="586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упповая работа. Заголовок. Текст.">
  <p:cSld name="CUSTOM_1_1_1_1_1_1_1_1_1_1_3_1_1_4_1_1_1_1_1_1_1"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/>
          <p:nvPr/>
        </p:nvSpPr>
        <p:spPr>
          <a:xfrm>
            <a:off x="0" y="5035325"/>
            <a:ext cx="9144000" cy="116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6"/>
          <p:cNvSpPr txBox="1"/>
          <p:nvPr>
            <p:ph type="title"/>
          </p:nvPr>
        </p:nvSpPr>
        <p:spPr>
          <a:xfrm>
            <a:off x="360450" y="360450"/>
            <a:ext cx="84237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83" name="Google Shape;183;p36"/>
          <p:cNvSpPr txBox="1"/>
          <p:nvPr>
            <p:ph idx="1" type="body"/>
          </p:nvPr>
        </p:nvSpPr>
        <p:spPr>
          <a:xfrm>
            <a:off x="360000" y="1191600"/>
            <a:ext cx="8430600" cy="30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pic>
        <p:nvPicPr>
          <p:cNvPr id="184" name="Google Shape;18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09563" y="4453277"/>
            <a:ext cx="975600" cy="58685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6"/>
          <p:cNvSpPr txBox="1"/>
          <p:nvPr>
            <p:ph idx="2" type="subTitle"/>
          </p:nvPr>
        </p:nvSpPr>
        <p:spPr>
          <a:xfrm>
            <a:off x="366775" y="4680000"/>
            <a:ext cx="7145700" cy="2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Montserrat Medium"/>
              <a:buNone/>
              <a:defRPr sz="12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01">
          <p15:clr>
            <a:srgbClr val="B7B7B7"/>
          </p15:clr>
        </p15:guide>
        <p15:guide id="2" orient="horz" pos="576">
          <p15:clr>
            <a:srgbClr val="B7B7B7"/>
          </p15:clr>
        </p15:guide>
        <p15:guide id="3" orient="horz" pos="751">
          <p15:clr>
            <a:srgbClr val="B7B7B7"/>
          </p15:clr>
        </p15:guide>
        <p15:guide id="4" orient="horz" pos="925">
          <p15:clr>
            <a:srgbClr val="B7B7B7"/>
          </p15:clr>
        </p15:guide>
        <p15:guide id="5" orient="horz" pos="1100">
          <p15:clr>
            <a:srgbClr val="B7B7B7"/>
          </p15:clr>
        </p15:guide>
        <p15:guide id="6" orient="horz" pos="1274">
          <p15:clr>
            <a:srgbClr val="B7B7B7"/>
          </p15:clr>
        </p15:guide>
        <p15:guide id="7" orient="horz" pos="1449">
          <p15:clr>
            <a:srgbClr val="B7B7B7"/>
          </p15:clr>
        </p15:guide>
        <p15:guide id="8" orient="horz" pos="1620">
          <p15:clr>
            <a:srgbClr val="B7B7B7"/>
          </p15:clr>
        </p15:guide>
        <p15:guide id="9" orient="horz" pos="1794">
          <p15:clr>
            <a:srgbClr val="B7B7B7"/>
          </p15:clr>
        </p15:guide>
        <p15:guide id="10" orient="horz" pos="1969">
          <p15:clr>
            <a:srgbClr val="B7B7B7"/>
          </p15:clr>
        </p15:guide>
        <p15:guide id="11" orient="horz" pos="2143">
          <p15:clr>
            <a:srgbClr val="B7B7B7"/>
          </p15:clr>
        </p15:guide>
        <p15:guide id="12" orient="horz" pos="2318">
          <p15:clr>
            <a:srgbClr val="B7B7B7"/>
          </p15:clr>
        </p15:guide>
        <p15:guide id="13" orient="horz" pos="2493">
          <p15:clr>
            <a:srgbClr val="B7B7B7"/>
          </p15:clr>
        </p15:guide>
        <p15:guide id="14" pos="2766">
          <p15:clr>
            <a:srgbClr val="FA7B17"/>
          </p15:clr>
        </p15:guide>
        <p15:guide id="15" pos="4377">
          <p15:clr>
            <a:srgbClr val="FA7B17"/>
          </p15:clr>
        </p15:guide>
        <p15:guide id="16" pos="1497">
          <p15:clr>
            <a:schemeClr val="accent1"/>
          </p15:clr>
        </p15:guide>
        <p15:guide id="17" pos="1610">
          <p15:clr>
            <a:srgbClr val="FA7B17"/>
          </p15:clr>
        </p15:guide>
        <p15:guide id="18" pos="2994">
          <p15:clr>
            <a:srgbClr val="FA7B17"/>
          </p15:clr>
        </p15:guide>
        <p15:guide id="19" pos="4150">
          <p15:clr>
            <a:srgbClr val="FA7B17"/>
          </p15:clr>
        </p15:guide>
        <p15:guide id="20" pos="2880">
          <p15:clr>
            <a:srgbClr val="7E24D5"/>
          </p15:clr>
        </p15:guide>
        <p15:guide id="21" pos="4264">
          <p15:clr>
            <a:srgbClr val="7E24D5"/>
          </p15:clr>
        </p15:guide>
        <p15:guide id="22" pos="1383">
          <p15:clr>
            <a:srgbClr val="FA7B17"/>
          </p15:clr>
        </p15:guide>
        <p15:guide id="23" pos="1958">
          <p15:clr>
            <a:srgbClr val="38BD60"/>
          </p15:clr>
        </p15:guide>
        <p15:guide id="24" pos="3802">
          <p15:clr>
            <a:schemeClr val="accent4"/>
          </p15:clr>
        </p15:guide>
        <p15:guide id="25" pos="1846">
          <p15:clr>
            <a:srgbClr val="FA7B17"/>
          </p15:clr>
        </p15:guide>
        <p15:guide id="26" pos="2073">
          <p15:clr>
            <a:srgbClr val="FA7B17"/>
          </p15:clr>
        </p15:guide>
        <p15:guide id="27" pos="3689">
          <p15:clr>
            <a:srgbClr val="FA7B17"/>
          </p15:clr>
        </p15:guide>
        <p15:guide id="28" pos="3914">
          <p15:clr>
            <a:srgbClr val="FA7B17"/>
          </p15:clr>
        </p15:guide>
        <p15:guide id="29" orient="horz" pos="2667">
          <p15:clr>
            <a:srgbClr val="CCCCCC"/>
          </p15:clr>
        </p15:guide>
        <p15:guide id="30" orient="horz" pos="2842">
          <p15:clr>
            <a:srgbClr val="CCCCCC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31.xml"/><Relationship Id="rId23" Type="http://schemas.openxmlformats.org/officeDocument/2006/relationships/slideLayout" Target="../slideLayouts/slideLayout30.xml"/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26" Type="http://schemas.openxmlformats.org/officeDocument/2006/relationships/slideLayout" Target="../slideLayouts/slideLayout33.xml"/><Relationship Id="rId25" Type="http://schemas.openxmlformats.org/officeDocument/2006/relationships/slideLayout" Target="../slideLayouts/slideLayout32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34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67025" y="367025"/>
            <a:ext cx="84171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 sz="28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67025" y="973450"/>
            <a:ext cx="84171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  <a:defRPr sz="1600">
                <a:latin typeface="Montserrat"/>
                <a:ea typeface="Montserrat"/>
                <a:cs typeface="Montserrat"/>
                <a:sym typeface="Montserrat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 sz="1600">
                <a:latin typeface="Montserrat"/>
                <a:ea typeface="Montserrat"/>
                <a:cs typeface="Montserrat"/>
                <a:sym typeface="Montserrat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 sz="1600">
                <a:latin typeface="Montserrat"/>
                <a:ea typeface="Montserrat"/>
                <a:cs typeface="Montserrat"/>
                <a:sym typeface="Montserrat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  <a:defRPr sz="1600">
                <a:latin typeface="Montserrat"/>
                <a:ea typeface="Montserrat"/>
                <a:cs typeface="Montserrat"/>
                <a:sym typeface="Montserrat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 sz="1600">
                <a:latin typeface="Montserrat"/>
                <a:ea typeface="Montserrat"/>
                <a:cs typeface="Montserrat"/>
                <a:sym typeface="Montserrat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 sz="1600">
                <a:latin typeface="Montserrat"/>
                <a:ea typeface="Montserrat"/>
                <a:cs typeface="Montserrat"/>
                <a:sym typeface="Montserrat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  <a:defRPr sz="1600">
                <a:latin typeface="Montserrat"/>
                <a:ea typeface="Montserrat"/>
                <a:cs typeface="Montserrat"/>
                <a:sym typeface="Montserrat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 sz="1600">
                <a:latin typeface="Montserrat"/>
                <a:ea typeface="Montserrat"/>
                <a:cs typeface="Montserrat"/>
                <a:sym typeface="Montserrat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 sz="1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27">
          <p15:clr>
            <a:srgbClr val="FF0000"/>
          </p15:clr>
        </p15:guide>
        <p15:guide id="2" orient="horz" pos="227">
          <p15:clr>
            <a:srgbClr val="FF0000"/>
          </p15:clr>
        </p15:guide>
        <p15:guide id="3" orient="horz" pos="3013">
          <p15:clr>
            <a:srgbClr val="FF0000"/>
          </p15:clr>
        </p15:guide>
        <p15:guide id="4" pos="5533">
          <p15:clr>
            <a:srgbClr val="FF000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6" name="Google Shape;36;p9"/>
          <p:cNvSpPr txBox="1"/>
          <p:nvPr>
            <p:ph type="title"/>
          </p:nvPr>
        </p:nvSpPr>
        <p:spPr>
          <a:xfrm>
            <a:off x="367025" y="367025"/>
            <a:ext cx="84171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 sz="28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367025" y="973450"/>
            <a:ext cx="84171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  <a:defRPr sz="1600">
                <a:latin typeface="Montserrat"/>
                <a:ea typeface="Montserrat"/>
                <a:cs typeface="Montserrat"/>
                <a:sym typeface="Montserrat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 sz="1600">
                <a:latin typeface="Montserrat"/>
                <a:ea typeface="Montserrat"/>
                <a:cs typeface="Montserrat"/>
                <a:sym typeface="Montserrat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 sz="1600">
                <a:latin typeface="Montserrat"/>
                <a:ea typeface="Montserrat"/>
                <a:cs typeface="Montserrat"/>
                <a:sym typeface="Montserrat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  <a:defRPr sz="1600">
                <a:latin typeface="Montserrat"/>
                <a:ea typeface="Montserrat"/>
                <a:cs typeface="Montserrat"/>
                <a:sym typeface="Montserrat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 sz="1600">
                <a:latin typeface="Montserrat"/>
                <a:ea typeface="Montserrat"/>
                <a:cs typeface="Montserrat"/>
                <a:sym typeface="Montserrat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 sz="1600">
                <a:latin typeface="Montserrat"/>
                <a:ea typeface="Montserrat"/>
                <a:cs typeface="Montserrat"/>
                <a:sym typeface="Montserrat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  <a:defRPr sz="1600">
                <a:latin typeface="Montserrat"/>
                <a:ea typeface="Montserrat"/>
                <a:cs typeface="Montserrat"/>
                <a:sym typeface="Montserrat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 sz="1600">
                <a:latin typeface="Montserrat"/>
                <a:ea typeface="Montserrat"/>
                <a:cs typeface="Montserrat"/>
                <a:sym typeface="Montserrat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 sz="16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27">
          <p15:clr>
            <a:srgbClr val="FF0000"/>
          </p15:clr>
        </p15:guide>
        <p15:guide id="2" orient="horz" pos="227">
          <p15:clr>
            <a:srgbClr val="FF0000"/>
          </p15:clr>
        </p15:guide>
        <p15:guide id="3" orient="horz" pos="3013">
          <p15:clr>
            <a:srgbClr val="FF0000"/>
          </p15:clr>
        </p15:guide>
        <p15:guide id="4" pos="5533">
          <p15:clr>
            <a:srgbClr val="FF0000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2.png"/><Relationship Id="rId4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9DC75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7"/>
          <p:cNvSpPr txBox="1"/>
          <p:nvPr/>
        </p:nvSpPr>
        <p:spPr>
          <a:xfrm>
            <a:off x="368150" y="781225"/>
            <a:ext cx="4384200" cy="25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rgbClr val="602B7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Пітчинг:</a:t>
            </a:r>
            <a:r>
              <a:rPr lang="en-GB" sz="4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endParaRPr sz="40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500">
                <a:solidFill>
                  <a:srgbClr val="602B7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Додаток для створення меню, що відповідає критеріям ЗОЖ</a:t>
            </a:r>
            <a:endParaRPr sz="3500">
              <a:solidFill>
                <a:srgbClr val="602B7A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91" name="Google Shape;19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994850"/>
            <a:ext cx="4211999" cy="3224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8"/>
          <p:cNvSpPr txBox="1"/>
          <p:nvPr/>
        </p:nvSpPr>
        <p:spPr>
          <a:xfrm>
            <a:off x="360000" y="360000"/>
            <a:ext cx="69825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800">
                <a:latin typeface="Montserrat Black"/>
                <a:ea typeface="Montserrat Black"/>
                <a:cs typeface="Montserrat Black"/>
                <a:sym typeface="Montserrat Black"/>
              </a:rPr>
              <a:t>Додаток для створення меню, що відповідає критеріям ЗСЖ</a:t>
            </a:r>
            <a:endParaRPr sz="2800"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800"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80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97" name="Google Shape;197;p38"/>
          <p:cNvSpPr txBox="1"/>
          <p:nvPr/>
        </p:nvSpPr>
        <p:spPr>
          <a:xfrm>
            <a:off x="398100" y="1226825"/>
            <a:ext cx="8424000" cy="268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Ринок: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ринок комунального харчування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Цільова аудиторія</a:t>
            </a:r>
            <a:r>
              <a:rPr b="1"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GB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представники здорового способу життя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600"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Цікавий факт</a:t>
            </a:r>
            <a:r>
              <a:rPr b="1" lang="en-GB" sz="16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GB" sz="1600">
                <a:solidFill>
                  <a:srgbClr val="1F1F1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дослідження показують, що люди, які використовують такі додатки для відстеження своїх харчових звичок, на 50% частіше досягають своїх цілей щодо зниження ваги або покращення дієти. Це відбувається завдяки тому, що додатки не тільки допомагають контролювати споживання калорій, але й мотивують користувачів, нагадуючи про цілі та прогрес.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1600">
                <a:latin typeface="Montserrat"/>
                <a:ea typeface="Montserrat"/>
                <a:cs typeface="Montserrat"/>
                <a:sym typeface="Montserrat"/>
              </a:rPr>
              <a:t>Переваги</a:t>
            </a:r>
            <a:r>
              <a:rPr b="1" lang="en-GB" sz="1600"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-GB" sz="16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GB" sz="1600">
                <a:solidFill>
                  <a:srgbClr val="1F1F1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персоналізація харчування, інформованість про продукти, економія часу, підтримка здорових звичок, зручність планування.</a:t>
            </a:r>
            <a:endParaRPr sz="1600">
              <a:solidFill>
                <a:srgbClr val="1F1F1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F1F1F"/>
              </a:solidFill>
              <a:highlight>
                <a:srgbClr val="F8F9FA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1F1F1F"/>
              </a:solidFill>
              <a:highlight>
                <a:srgbClr val="F8F9FA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8" name="Google Shape;19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2475" y="-2124376"/>
            <a:ext cx="1737150" cy="359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9"/>
          <p:cNvSpPr txBox="1"/>
          <p:nvPr/>
        </p:nvSpPr>
        <p:spPr>
          <a:xfrm>
            <a:off x="1009825" y="360000"/>
            <a:ext cx="7630500" cy="16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 u="sng">
                <a:latin typeface="Montserrat"/>
                <a:ea typeface="Montserrat"/>
                <a:cs typeface="Montserrat"/>
                <a:sym typeface="Montserrat"/>
              </a:rPr>
              <a:t>Додатки для створення персоналізованого меню,</a:t>
            </a:r>
            <a:r>
              <a:rPr b="1" lang="en-GB" sz="20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GB" sz="2000">
                <a:latin typeface="Montserrat"/>
                <a:ea typeface="Montserrat"/>
                <a:cs typeface="Montserrat"/>
                <a:sym typeface="Montserrat"/>
              </a:rPr>
              <a:t>яке відповідає критеріям здорового харчування, можуть підвищити ймовірність дотримання користувачами здорових звичок на 30%! 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4" name="Google Shape;204;p39"/>
          <p:cNvPicPr preferRelativeResize="0"/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820263" y="1620175"/>
            <a:ext cx="7864075" cy="2891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9"/>
          <p:cNvSpPr txBox="1"/>
          <p:nvPr/>
        </p:nvSpPr>
        <p:spPr>
          <a:xfrm>
            <a:off x="877400" y="3125350"/>
            <a:ext cx="7514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😄— Додаток для здорового харчування сказав, що потрібно менше цукру.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Тож тепер ти п'єш каву без цукру?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Ні, тепер я просто не відкриваю додаток!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0"/>
          <p:cNvSpPr txBox="1"/>
          <p:nvPr/>
        </p:nvSpPr>
        <p:spPr>
          <a:xfrm>
            <a:off x="650300" y="360000"/>
            <a:ext cx="82134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Montserrat Black"/>
                <a:ea typeface="Montserrat Black"/>
                <a:cs typeface="Montserrat Black"/>
                <a:sym typeface="Montserrat Black"/>
              </a:rPr>
              <a:t>Яким набором продуктів у McDonald's можна замінити один прийом їжі, не перевищуючи норму калорій?</a:t>
            </a:r>
            <a:endParaRPr sz="2000"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000" u="sng"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000">
              <a:highlight>
                <a:srgbClr val="FFFFFF"/>
              </a:highlight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211" name="Google Shape;21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31900" y="3125345"/>
            <a:ext cx="2275025" cy="208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40"/>
          <p:cNvSpPr txBox="1"/>
          <p:nvPr/>
        </p:nvSpPr>
        <p:spPr>
          <a:xfrm>
            <a:off x="650300" y="1260625"/>
            <a:ext cx="4014900" cy="26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u="sng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Гіпотеза:</a:t>
            </a:r>
            <a:r>
              <a:rPr lang="en-GB" sz="20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на сніданок у McDonald's можна підібрати комбінацію продуктів, що відповідає нормам здорового харчування. 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3" name="Google Shape;21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5475" y="1090850"/>
            <a:ext cx="4408224" cy="31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40"/>
          <p:cNvSpPr txBox="1"/>
          <p:nvPr/>
        </p:nvSpPr>
        <p:spPr>
          <a:xfrm>
            <a:off x="4415625" y="4234150"/>
            <a:ext cx="40149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latin typeface="Montserrat"/>
                <a:ea typeface="Montserrat"/>
                <a:cs typeface="Montserrat"/>
                <a:sym typeface="Montserrat"/>
              </a:rPr>
              <a:t>Мал. 1 Кількість страв, що припадає на певну категорію меню у McDonald's в процентному відношенні</a:t>
            </a:r>
            <a:endParaRPr b="1" sz="13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1"/>
          <p:cNvSpPr txBox="1"/>
          <p:nvPr/>
        </p:nvSpPr>
        <p:spPr>
          <a:xfrm>
            <a:off x="550425" y="415075"/>
            <a:ext cx="7690500" cy="7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Montserrat Black"/>
                <a:ea typeface="Montserrat Black"/>
                <a:cs typeface="Montserrat Black"/>
                <a:sym typeface="Montserrat Black"/>
              </a:rPr>
              <a:t>Візуалізація даних</a:t>
            </a:r>
            <a:endParaRPr sz="200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20" name="Google Shape;220;p41"/>
          <p:cNvSpPr txBox="1"/>
          <p:nvPr/>
        </p:nvSpPr>
        <p:spPr>
          <a:xfrm>
            <a:off x="941250" y="4323150"/>
            <a:ext cx="7261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latin typeface="Montserrat"/>
                <a:ea typeface="Montserrat"/>
                <a:cs typeface="Montserrat"/>
                <a:sym typeface="Montserrat"/>
              </a:rPr>
              <a:t>Мал. 2 Порівняння кількості калорій, що включають в себе страви, які відповідають критеріям здорового харчування</a:t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1" name="Google Shape;22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400" y="748550"/>
            <a:ext cx="8847325" cy="348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2"/>
          <p:cNvSpPr txBox="1"/>
          <p:nvPr/>
        </p:nvSpPr>
        <p:spPr>
          <a:xfrm>
            <a:off x="550425" y="415075"/>
            <a:ext cx="7690500" cy="7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000">
                <a:latin typeface="Montserrat Black"/>
                <a:ea typeface="Montserrat Black"/>
                <a:cs typeface="Montserrat Black"/>
                <a:sym typeface="Montserrat Black"/>
              </a:rPr>
              <a:t>Візуалізація даних</a:t>
            </a:r>
            <a:endParaRPr sz="2000"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227" name="Google Shape;227;p42"/>
          <p:cNvSpPr txBox="1"/>
          <p:nvPr/>
        </p:nvSpPr>
        <p:spPr>
          <a:xfrm>
            <a:off x="890313" y="4013525"/>
            <a:ext cx="7261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latin typeface="Montserrat"/>
                <a:ea typeface="Montserrat"/>
                <a:cs typeface="Montserrat"/>
                <a:sym typeface="Montserrat"/>
              </a:rPr>
              <a:t>Мал. 3 Страви</a:t>
            </a:r>
            <a:r>
              <a:rPr b="1" lang="en-GB" sz="1500">
                <a:latin typeface="Montserrat"/>
                <a:ea typeface="Montserrat"/>
                <a:cs typeface="Montserrat"/>
                <a:sym typeface="Montserrat"/>
              </a:rPr>
              <a:t>, які відповідають критеріям здорового харчування, які можна замовити на сніданок </a:t>
            </a:r>
            <a:r>
              <a:rPr b="1" lang="en-GB" sz="1500">
                <a:latin typeface="Montserrat"/>
                <a:ea typeface="Montserrat"/>
                <a:cs typeface="Montserrat"/>
                <a:sym typeface="Montserrat"/>
              </a:rPr>
              <a:t>у McDonald's</a:t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8" name="Google Shape;22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1250" y="751275"/>
            <a:ext cx="7159626" cy="309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3"/>
          <p:cNvSpPr txBox="1"/>
          <p:nvPr/>
        </p:nvSpPr>
        <p:spPr>
          <a:xfrm>
            <a:off x="360000" y="360000"/>
            <a:ext cx="7390800" cy="6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800">
                <a:highlight>
                  <a:srgbClr val="D9EAD3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Висновки:</a:t>
            </a:r>
            <a:endParaRPr sz="2800">
              <a:highlight>
                <a:srgbClr val="D9EAD3"/>
              </a:highlight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pic>
        <p:nvPicPr>
          <p:cNvPr id="234" name="Google Shape;23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6425" y="51200"/>
            <a:ext cx="2667575" cy="26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3"/>
          <p:cNvSpPr txBox="1"/>
          <p:nvPr/>
        </p:nvSpPr>
        <p:spPr>
          <a:xfrm>
            <a:off x="360000" y="1141675"/>
            <a:ext cx="6342600" cy="3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6700" lvl="0" marL="3527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Char char="➔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Критерії здорового харчування, що взяті для проведення аналізу даних:</a:t>
            </a:r>
            <a:r>
              <a:rPr lang="en-GB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калорії не більше 400, жири не більше 20 г,  натрій не більше 800 мг, цукор не більше 25 г, мінімум 10 г білка.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6700" lvl="0" marL="352799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Char char="➔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Зважаючи на результати аналізу даних, у меню McDonald's  є страви, що відповідають критеріям здорового харчування (мал. 2)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236700" lvl="0" marL="352799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Char char="➔"/>
            </a:pP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На сніданок можна </a:t>
            </a: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вибрати</a:t>
            </a: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 три страви із меню </a:t>
            </a:r>
            <a:r>
              <a:rPr lang="en-GB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McDonald's, які не зашкодять здоровому способу життя (мал. 3)</a:t>
            </a:r>
            <a:r>
              <a:rPr lang="en-GB" sz="180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52799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lgoritmika (May 2021) 02">
  <a:themeElements>
    <a:clrScheme name="Simple Light">
      <a:dk1>
        <a:srgbClr val="000000"/>
      </a:dk1>
      <a:lt1>
        <a:srgbClr val="FFFFFE"/>
      </a:lt1>
      <a:dk2>
        <a:srgbClr val="5E5EFF"/>
      </a:dk2>
      <a:lt2>
        <a:srgbClr val="8EE85D"/>
      </a:lt2>
      <a:accent1>
        <a:srgbClr val="833AE0"/>
      </a:accent1>
      <a:accent2>
        <a:srgbClr val="FF7842"/>
      </a:accent2>
      <a:accent3>
        <a:srgbClr val="88DBF2"/>
      </a:accent3>
      <a:accent4>
        <a:srgbClr val="38BD60"/>
      </a:accent4>
      <a:accent5>
        <a:srgbClr val="FA82CC"/>
      </a:accent5>
      <a:accent6>
        <a:srgbClr val="FFDC40"/>
      </a:accent6>
      <a:hlink>
        <a:srgbClr val="833AE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lgoritmika (May 2021)">
  <a:themeElements>
    <a:clrScheme name="Simple Light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833AE0"/>
      </a:accent1>
      <a:accent2>
        <a:srgbClr val="FF7842"/>
      </a:accent2>
      <a:accent3>
        <a:srgbClr val="88DBF2"/>
      </a:accent3>
      <a:accent4>
        <a:srgbClr val="38BD60"/>
      </a:accent4>
      <a:accent5>
        <a:srgbClr val="FA82CC"/>
      </a:accent5>
      <a:accent6>
        <a:srgbClr val="FFDC40"/>
      </a:accent6>
      <a:hlink>
        <a:srgbClr val="833AE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